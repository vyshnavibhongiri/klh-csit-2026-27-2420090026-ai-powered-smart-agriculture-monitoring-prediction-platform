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3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0E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858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AI-Powered Smart Agriculture</a:t>
            </a:r>
            <a:br/>
            <a:r>
              <a:t>Monitoring and Crop Disease</a:t>
            </a:r>
            <a:br/>
            <a:r>
              <a:t>Prediction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42900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BE0C3"/>
                </a:solidFill>
                <a:latin typeface="Aptos"/>
              </a:defRPr>
            </a:pPr>
            <a:r>
              <a:t>ENGINEERING CAPSTONE PROJECT – 1  |  REVIEW –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4160520"/>
            <a:ext cx="6492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B. Vaishnavi  —  2420090026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S. Lahari Krishna  —  2420090055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Guide: Ms. G. Lavanya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25880"/>
            <a:ext cx="338328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3886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Smart • Predictive • Data-driven</a:t>
            </a:r>
          </a:p>
          <a:p>
            <a:pPr algn="ctr">
              <a:defRPr sz="1100">
                <a:solidFill>
                  <a:srgbClr val="BBE0C3"/>
                </a:solidFill>
                <a:latin typeface="Aptos"/>
              </a:defRPr>
            </a:pPr>
            <a:r>
              <a:t>Review-2 | A.Y. 2026–2027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6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Why an integrated smart agriculture platform is needed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>
            <p:custDataLst>
              <p:tags r:id="rId2"/>
            </p:custDataLst>
          </p:nvPr>
        </p:nvSpPr>
        <p:spPr>
          <a:xfrm>
            <a:off x="804671" y="1399032"/>
            <a:ext cx="411480" cy="411480"/>
          </a:xfrm>
          <a:prstGeom prst="ellipse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04671" y="1426464"/>
            <a:ext cx="411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t>1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325880" y="1380744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Delayed disease detection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841247" y="1837944"/>
            <a:ext cx="3026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Manual inspection can delay identification of crop diseases and affect crop health.</a:t>
            </a: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>
            <p:custDataLst>
              <p:tags r:id="rId7"/>
            </p:custDataLst>
          </p:nvPr>
        </p:nvSpPr>
        <p:spPr>
          <a:xfrm>
            <a:off x="4553712" y="1399032"/>
            <a:ext cx="411480" cy="411480"/>
          </a:xfrm>
          <a:prstGeom prst="ellipse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553712" y="1426464"/>
            <a:ext cx="411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t>2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5074920" y="1380744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Environmental uncertainty</a:t>
            </a: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4590288" y="1837944"/>
            <a:ext cx="3026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Temperature, humidity and soil conditions need continuous monitoring for better decisions.</a:t>
            </a:r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>
            <p:custDataLst>
              <p:tags r:id="rId12"/>
            </p:custDataLst>
          </p:nvPr>
        </p:nvSpPr>
        <p:spPr>
          <a:xfrm>
            <a:off x="8302752" y="1399032"/>
            <a:ext cx="411480" cy="411480"/>
          </a:xfrm>
          <a:prstGeom prst="ellipse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8302752" y="1426464"/>
            <a:ext cx="411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t>3</a:t>
            </a: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8823960" y="1380744"/>
            <a:ext cx="2560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Inefficient decisions</a:t>
            </a: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8339328" y="1837944"/>
            <a:ext cx="3026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Irrigation, fertilizer and disease-management decisions may rely heavily on manual judgement.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29000"/>
            <a:ext cx="10927080" cy="2148840"/>
          </a:xfrm>
          <a:prstGeom prst="roundRect">
            <a:avLst/>
          </a:prstGeom>
          <a:solidFill>
            <a:srgbClr val="E8F6ED"/>
          </a:solidFill>
          <a:ln>
            <a:solidFill>
              <a:srgbClr val="B9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30752"/>
            <a:ext cx="103784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83F25"/>
                </a:solidFill>
                <a:latin typeface="Aptos Display"/>
              </a:defRPr>
            </a:pPr>
            <a:r>
              <a:t>Core Problem</a:t>
            </a:r>
          </a:p>
          <a:p>
            <a:pPr>
              <a:spcBef>
                <a:spcPts val="800"/>
              </a:spcBef>
              <a:defRPr sz="1700">
                <a:solidFill>
                  <a:srgbClr val="232B28"/>
                </a:solidFill>
                <a:latin typeface="Aptos"/>
              </a:defRPr>
            </a:pPr>
            <a:r>
              <a:t>Farmers need a single, intelligent platform that can combine crop-image analysis, environmental monitoring, historical insights and actionable recommendations.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27523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AI-based disease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37944"/>
            <a:ext cx="275234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Detect crop diseases from uploaded leaf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380744"/>
            <a:ext cx="27523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Environmental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1837944"/>
            <a:ext cx="275234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Track temperature, humidity, soil moisture and light intensity.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23444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380744"/>
            <a:ext cx="27523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Actionable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1837944"/>
            <a:ext cx="275234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Support irrigation, fertilizer and disease-management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529584"/>
            <a:ext cx="27523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Historical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86784"/>
            <a:ext cx="275234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Maintain previous predictions and crop-health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38328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529584"/>
            <a:ext cx="27523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Interactive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3986784"/>
            <a:ext cx="275234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Present crop health, alerts, trends and prediction insights.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383280"/>
            <a:ext cx="3154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3529584"/>
            <a:ext cx="275234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Scalable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986784"/>
            <a:ext cx="2752344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Prepare the system for backend, cloud, CI/CD and ML lifecycle integration.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Existing System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Moving from isolated/manual monitoring to an integrated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074920" cy="594360"/>
          </a:xfrm>
          <a:prstGeom prst="roundRect">
            <a:avLst/>
          </a:prstGeom>
          <a:solidFill>
            <a:srgbClr val="74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7101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Existing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143000"/>
            <a:ext cx="5074920" cy="594360"/>
          </a:xfrm>
          <a:prstGeom prst="roundRect">
            <a:avLst/>
          </a:prstGeom>
          <a:solidFill>
            <a:srgbClr val="116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71016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Proposed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572000" cy="356616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5A6660"/>
                </a:solidFill>
                <a:latin typeface="Aptos"/>
              </a:defRPr>
            </a:pPr>
            <a:r>
              <a:t>• Manual crop inspection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5A6660"/>
                </a:solidFill>
                <a:latin typeface="Aptos"/>
              </a:defRPr>
            </a:pPr>
            <a:r>
              <a:t>• Disease detection may be delayed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5A6660"/>
                </a:solidFill>
                <a:latin typeface="Aptos"/>
              </a:defRPr>
            </a:pPr>
            <a:r>
              <a:t>• Environmental data handled separately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5A6660"/>
                </a:solidFill>
                <a:latin typeface="Aptos"/>
              </a:defRPr>
            </a:pPr>
            <a:r>
              <a:t>• Limited historical analysis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5A6660"/>
                </a:solidFill>
                <a:latin typeface="Aptos"/>
              </a:defRPr>
            </a:pPr>
            <a:r>
              <a:t>• Manual irrigation/fertilizer decisions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5A6660"/>
                </a:solidFill>
                <a:latin typeface="Aptos"/>
              </a:defRPr>
            </a:pPr>
            <a:r>
              <a:t>• No unified recommendation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56616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232B28"/>
                </a:solidFill>
                <a:latin typeface="Aptos"/>
              </a:defRPr>
            </a:pPr>
            <a:r>
              <a:t>• AI-assisted image prediction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232B28"/>
                </a:solidFill>
                <a:latin typeface="Aptos"/>
              </a:defRPr>
            </a:pPr>
            <a:r>
              <a:t>• Fast disease result + confidence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232B28"/>
                </a:solidFill>
                <a:latin typeface="Aptos"/>
              </a:defRPr>
            </a:pPr>
            <a:r>
              <a:t>• Centralized environmental monitoring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232B28"/>
                </a:solidFill>
                <a:latin typeface="Aptos"/>
              </a:defRPr>
            </a:pPr>
            <a:r>
              <a:t>• Prediction history and analytics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232B28"/>
                </a:solidFill>
                <a:latin typeface="Aptos"/>
              </a:defRPr>
            </a:pPr>
            <a:r>
              <a:t>• Data-driven recommendations</a:t>
            </a:r>
          </a:p>
          <a:p>
            <a:pPr>
              <a:lnSpc>
                <a:spcPct val="105000"/>
              </a:lnSpc>
              <a:spcAft>
                <a:spcPts val="1200"/>
              </a:spcAft>
              <a:defRPr sz="1600">
                <a:solidFill>
                  <a:srgbClr val="232B28"/>
                </a:solidFill>
                <a:latin typeface="Aptos"/>
              </a:defRPr>
            </a:pPr>
            <a:r>
              <a:t>• Single farmer dashboard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32120" y="2926080"/>
            <a:ext cx="914400" cy="731520"/>
          </a:xfrm>
          <a:prstGeom prst="rightArrow">
            <a:avLst/>
          </a:prstGeom>
          <a:solidFill>
            <a:srgbClr val="70A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End-to-end farmer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80744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01  Login /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37944"/>
            <a:ext cx="21396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Secure entry to the farmer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23444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1380744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02  Upload Leaf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837944"/>
            <a:ext cx="21396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Submit a clear crop/leaf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23444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380744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03  AI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1837944"/>
            <a:ext cx="21396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Identify healthy/diseased crop and disease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123444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380744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04  Monitor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1837944"/>
            <a:ext cx="21396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View temperature, humidity, soil and light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38144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05  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895344"/>
            <a:ext cx="21396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Combine prediction with environmental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288" y="329184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438144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06  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8456" y="3895344"/>
            <a:ext cx="21396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Generate irrigation, fertilizer and disease-management guidance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329184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3438144"/>
            <a:ext cx="21396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07 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3895344"/>
            <a:ext cx="21396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View history, alerts and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83F25"/>
                </a:solidFill>
                <a:latin typeface="Aptos"/>
              </a:defRPr>
            </a:pPr>
            <a:r>
              <a:t>Core flow:  Image + Environmental Data  →  AI/ML  →  Analysis  →  Recommendations  → 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Tools and technologies selected for the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289304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Frontend  | 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46504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Interactive farmer dashboard and user interfaces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289304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Backend  | 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746504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API layer and application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43000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289304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Database  |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1746504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Users, crops, sensor data and prediction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7063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16936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AI / ML  |  Deep Learning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74136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Crop disease classification and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7063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2916936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Containerization  | 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374136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Consistent development and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770632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2916936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CI/CD  |  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3374136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Automated build and delivery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98264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544568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ML Lifecycle  |  MLflow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001768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Model tracking and lifecycle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398264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4544568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Cloud  |  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5001768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Scalable cloud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398264"/>
            <a:ext cx="34015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4544568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Security  |  DevSecOps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5001768"/>
            <a:ext cx="29992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Security-aware development practices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Workflow from data input to dashboard and recommendations</a:t>
            </a:r>
          </a:p>
        </p:txBody>
      </p:sp>
      <p:pic>
        <p:nvPicPr>
          <p:cNvPr id="5" name="Picture 4" descr="workflow_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35" y="1169035"/>
            <a:ext cx="11035665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Main functional areas of the proposed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289304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Login, registration, user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289304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746504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Crop health, predictions, alerts, environment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96312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642616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Image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99816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Upload leaf image and obtain disease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96312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642616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Environmental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99816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Temperature, humidity, soil moisture, light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9624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95928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453128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Previous crop predictions and timestamps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9624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995928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453128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Irrigation, fertilizer and disease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02936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349240"/>
            <a:ext cx="47640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806440"/>
            <a:ext cx="4764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Dataset, disease information, user and system oversight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Implementation – User &amp; Prediction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Actual project UI progress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657600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143000"/>
            <a:ext cx="3657600" cy="2057400"/>
          </a:xfrm>
          <a:prstGeom prst="rect">
            <a:avLst/>
          </a:prstGeom>
          <a:noFill/>
          <a:ln w="1016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143000"/>
            <a:ext cx="3611880" cy="2057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34840" y="1143000"/>
            <a:ext cx="3611880" cy="2057400"/>
          </a:xfrm>
          <a:prstGeom prst="rect">
            <a:avLst/>
          </a:prstGeom>
          <a:noFill/>
          <a:ln w="1016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143000"/>
            <a:ext cx="338328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143000"/>
            <a:ext cx="3383280" cy="2057400"/>
          </a:xfrm>
          <a:prstGeom prst="rect">
            <a:avLst/>
          </a:prstGeom>
          <a:noFill/>
          <a:ln w="1016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31012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3F25"/>
                </a:solidFill>
                <a:latin typeface="Aptos"/>
              </a:defRPr>
            </a:pPr>
            <a:r>
              <a:t>Login /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31012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3F25"/>
                </a:solidFill>
                <a:latin typeface="Aptos"/>
              </a:defRPr>
            </a:pPr>
            <a:r>
              <a:t>Crop Leaf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1012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3F25"/>
                </a:solidFill>
                <a:latin typeface="Aptos"/>
              </a:defRPr>
            </a:pPr>
            <a:r>
              <a:t>AI Prediction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86784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Authentication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43984"/>
            <a:ext cx="29352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Login and registration forms are designed for farmer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3986784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Image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443984"/>
            <a:ext cx="29352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Drag-and-drop / file selection interface for crop leaf images.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3986784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Prediction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4443984"/>
            <a:ext cx="293522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Disease name, confidence score, description and action guidance.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A6660"/>
                </a:solidFill>
                <a:latin typeface="Aptos"/>
              </a:defRPr>
            </a:pPr>
            <a:r>
              <a:t>Implementation evidence: supplied project UI screenshots. Prediction values shown in the prototype should be treated as sample output unless connected to the trained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Implementation – Monitoring, History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Actual project UI progress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3657600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1097280"/>
            <a:ext cx="3657600" cy="2057400"/>
          </a:xfrm>
          <a:prstGeom prst="rect">
            <a:avLst/>
          </a:prstGeom>
          <a:noFill/>
          <a:ln w="1016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97280"/>
            <a:ext cx="3611880" cy="2057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34840" y="1097280"/>
            <a:ext cx="3611880" cy="2057400"/>
          </a:xfrm>
          <a:prstGeom prst="rect">
            <a:avLst/>
          </a:prstGeom>
          <a:noFill/>
          <a:ln w="1016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0"/>
            <a:ext cx="3383280" cy="2057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097280"/>
            <a:ext cx="3383280" cy="2057400"/>
          </a:xfrm>
          <a:prstGeom prst="rect">
            <a:avLst/>
          </a:prstGeom>
          <a:noFill/>
          <a:ln w="1016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6440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83F25"/>
                </a:solidFill>
                <a:latin typeface="Aptos"/>
              </a:defRPr>
            </a:pPr>
            <a:r>
              <a:t>Smart Agriculture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64408"/>
            <a:ext cx="3611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83F25"/>
                </a:solidFill>
                <a:latin typeface="Aptos"/>
              </a:defRPr>
            </a:pPr>
            <a:r>
              <a:t>Environmental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64408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083F25"/>
                </a:solidFill>
                <a:latin typeface="Aptos"/>
              </a:defRPr>
            </a:pPr>
            <a:r>
              <a:t>Prediction History &amp; 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32504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9704"/>
            <a:ext cx="29352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Health statistics, prediction count, alerts and environmental overview.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8620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4032504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489704"/>
            <a:ext cx="29352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Current readings and trend visualization for environmental parameters.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8620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4032504"/>
            <a:ext cx="293522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History +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4489704"/>
            <a:ext cx="29352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Historical predictions with irrigation, fertilizer and disease-management recommendations.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Review-2 progress based on the supplied project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789920" cy="310896"/>
          </a:xfrm>
          <a:prstGeom prst="roundRect">
            <a:avLst/>
          </a:prstGeom>
          <a:solidFill>
            <a:srgbClr val="F7FAF8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75004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Project workflow &amp;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175004"/>
            <a:ext cx="1965960" cy="24688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1193292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1693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107899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68195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Major UI screens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568195"/>
            <a:ext cx="1965960" cy="24688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586484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1693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29384"/>
            <a:ext cx="10789920" cy="310896"/>
          </a:xfrm>
          <a:prstGeom prst="roundRect">
            <a:avLst/>
          </a:prstGeom>
          <a:solidFill>
            <a:srgbClr val="F7FAF8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61388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Login / Registration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961388"/>
            <a:ext cx="1965960" cy="24688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79676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1693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322576"/>
            <a:ext cx="107899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35458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Dashboard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354580"/>
            <a:ext cx="1965960" cy="24688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72868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1693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715768"/>
            <a:ext cx="10789920" cy="310896"/>
          </a:xfrm>
          <a:prstGeom prst="roundRect">
            <a:avLst/>
          </a:prstGeom>
          <a:solidFill>
            <a:srgbClr val="F7FAF8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74777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Image upload &amp; prediction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2747772"/>
            <a:ext cx="1965960" cy="24688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766060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1693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108960"/>
            <a:ext cx="107899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140964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Environmental monitoring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3140964"/>
            <a:ext cx="1965960" cy="24688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159252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1693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02152"/>
            <a:ext cx="10789920" cy="310896"/>
          </a:xfrm>
          <a:prstGeom prst="roundRect">
            <a:avLst/>
          </a:prstGeom>
          <a:solidFill>
            <a:srgbClr val="F7FAF8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534156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History &amp; recommendation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3534156"/>
            <a:ext cx="1965960" cy="246888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552444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16939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895344"/>
            <a:ext cx="107899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927348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Backend API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927348"/>
            <a:ext cx="1965960" cy="246888"/>
          </a:xfrm>
          <a:prstGeom prst="roundRect">
            <a:avLst/>
          </a:prstGeom>
          <a:solidFill>
            <a:srgbClr val="FC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945635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6A837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88536"/>
            <a:ext cx="10789920" cy="310896"/>
          </a:xfrm>
          <a:prstGeom prst="roundRect">
            <a:avLst/>
          </a:prstGeom>
          <a:solidFill>
            <a:srgbClr val="F7FAF8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320540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Database integration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4320540"/>
            <a:ext cx="1965960" cy="246888"/>
          </a:xfrm>
          <a:prstGeom prst="roundRect">
            <a:avLst/>
          </a:prstGeom>
          <a:solidFill>
            <a:srgbClr val="FC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4338827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6A837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681728"/>
            <a:ext cx="107899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713732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Trained ML model integration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4713732"/>
            <a:ext cx="1965960" cy="246888"/>
          </a:xfrm>
          <a:prstGeom prst="roundRect">
            <a:avLst/>
          </a:prstGeom>
          <a:solidFill>
            <a:srgbClr val="FCF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4732020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6A837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074920"/>
            <a:ext cx="10789920" cy="310896"/>
          </a:xfrm>
          <a:prstGeom prst="roundRect">
            <a:avLst/>
          </a:prstGeom>
          <a:solidFill>
            <a:srgbClr val="F7FAF8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106924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IoT / real sensor integration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89720" y="5106924"/>
            <a:ext cx="1965960" cy="246888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5125212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C68AA"/>
                </a:solidFill>
                <a:latin typeface="Aptos"/>
              </a:defRPr>
            </a:pPr>
            <a:r>
              <a:t>Future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468112"/>
            <a:ext cx="107899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500116"/>
            <a:ext cx="8046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B28"/>
                </a:solidFill>
                <a:latin typeface="Aptos"/>
              </a:defRPr>
            </a:pPr>
            <a:r>
              <a:t>Docker / AWS / CI-CD / MLflow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20" y="5500116"/>
            <a:ext cx="1965960" cy="246888"/>
          </a:xfrm>
          <a:prstGeom prst="round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5518403"/>
            <a:ext cx="187451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C68AA"/>
                </a:solidFill>
                <a:latin typeface="Aptos"/>
              </a:defRPr>
            </a:pPr>
            <a:r>
              <a:t>Planned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6660"/>
                </a:solidFill>
                <a:latin typeface="Aptos"/>
              </a:defRPr>
            </a:pPr>
            <a:r>
              <a:t>Status labels should be updated to match the team's live repository and working backend/model before the final presentation.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3F25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32104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660"/>
                </a:solidFill>
                <a:latin typeface="Aptos"/>
              </a:defRPr>
            </a:pPr>
            <a:r>
              <a:t>Current achievement and next development phase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485546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693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37944"/>
            <a:ext cx="4855464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5A6660"/>
                </a:solidFill>
                <a:latin typeface="Aptos"/>
              </a:defRPr>
            </a:pPr>
            <a:r>
              <a:t>The project has progressed from architecture and workflow design to a functional set of major user-facing screens. The current prototype demonstrates the intended farmer journey from authentication and image upload to prediction, environmental monitoring, history and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257800" cy="4389120"/>
          </a:xfrm>
          <a:prstGeom prst="roundRect">
            <a:avLst/>
          </a:prstGeom>
          <a:solidFill>
            <a:srgbClr val="E8F6ED"/>
          </a:solidFill>
          <a:ln>
            <a:solidFill>
              <a:srgbClr val="B9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81328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83F25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572000" cy="3246120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32B28"/>
                </a:solidFill>
                <a:latin typeface="Aptos"/>
              </a:defRPr>
            </a:pPr>
            <a:r>
              <a:t>• Integrate trained disease-prediction model with the application.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32B28"/>
                </a:solidFill>
                <a:latin typeface="Aptos"/>
              </a:defRPr>
            </a:pPr>
            <a:r>
              <a:t>• Connect FastAPI services with PostgreSQL.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32B28"/>
                </a:solidFill>
                <a:latin typeface="Aptos"/>
              </a:defRPr>
            </a:pPr>
            <a:r>
              <a:t>• Add real-time IoT environmental sensor data.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32B28"/>
                </a:solidFill>
                <a:latin typeface="Aptos"/>
              </a:defRPr>
            </a:pPr>
            <a:r>
              <a:t>• Improve recommendation logic using crop and environmental context.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32B28"/>
                </a:solidFill>
                <a:latin typeface="Aptos"/>
              </a:defRPr>
            </a:pPr>
            <a:r>
              <a:t>• Deploy the platform using Docker and AWS.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32B28"/>
                </a:solidFill>
                <a:latin typeface="Aptos"/>
              </a:defRPr>
            </a:pPr>
            <a:r>
              <a:t>• Introduce GitHub Actions and MLflow for continuous development and model lifecycle management.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2D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66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3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14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C4E8CC"/>
                </a:solidFill>
                <a:latin typeface="Aptos"/>
              </a:defRPr>
            </a:pPr>
            <a:r>
              <a:t>Login  →  Dashboard  →  Upload Leaf  →  Prediction  →  Environment  →  Recommendations  →  History</a:t>
            </a:r>
          </a:p>
        </p:txBody>
      </p:sp>
      <p:pic>
        <p:nvPicPr>
          <p:cNvPr id="5" name="Picture 4" descr="predi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703320"/>
            <a:ext cx="4434840" cy="182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46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2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3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4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5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6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7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8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9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10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11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12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13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14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ags/tag15.xml><?xml version="1.0" encoding="utf-8"?>
<p:tagLst xmlns:p="http://schemas.openxmlformats.org/presentationml/2006/main">
  <p:tag name="KSO_WM_DIAGRAM_VIRTUALLY_FRAME" val="{&quot;height&quot;:144,&quot;left&quot;:50.4,&quot;top&quot;:97.2,&quot;width&quot;:86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6060</Words>
  <Application>WPS Presentation</Application>
  <PresentationFormat>On-screen Show (4:3)</PresentationFormat>
  <Paragraphs>343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BHONGIRI VAISHNAVI 2420090026</cp:lastModifiedBy>
  <cp:revision>3</cp:revision>
  <dcterms:created xsi:type="dcterms:W3CDTF">2013-01-27T09:14:00Z</dcterms:created>
  <dcterms:modified xsi:type="dcterms:W3CDTF">2026-09-26T06:36:38Z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D83F87A530D048F2A7A2BCD47C4E907E_13</vt:lpwstr>
  </property>
  <property fmtid="{D5CDD505-2E9C-101B-9397-08002B2CF9AE}" pid="3" name="KSOProductBuildVer">
    <vt:lpwstr>2057-12.2.0.23206</vt:lpwstr>
  </property>
</Properties>
</file>